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1"/>
  </p:sldMasterIdLst>
  <p:notesMasterIdLst>
    <p:notesMasterId r:id="rId14"/>
  </p:notesMasterIdLst>
  <p:handoutMasterIdLst>
    <p:handoutMasterId r:id="rId15"/>
  </p:handoutMasterIdLst>
  <p:sldIdLst>
    <p:sldId id="257" r:id="rId2"/>
    <p:sldId id="265" r:id="rId3"/>
    <p:sldId id="261" r:id="rId4"/>
    <p:sldId id="273" r:id="rId5"/>
    <p:sldId id="266" r:id="rId6"/>
    <p:sldId id="274" r:id="rId7"/>
    <p:sldId id="270" r:id="rId8"/>
    <p:sldId id="276" r:id="rId9"/>
    <p:sldId id="271" r:id="rId10"/>
    <p:sldId id="275" r:id="rId11"/>
    <p:sldId id="272" r:id="rId12"/>
    <p:sldId id="269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82" d="100"/>
          <a:sy n="82" d="100"/>
        </p:scale>
        <p:origin x="14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6494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44DCE4FD-DEE1-4DE9-A40E-616ACEB2FE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 ………………………………………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90DFCEB3-810D-48E5-B7BA-1A6C924A64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8674100" cy="530339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7547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10/25/2026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2: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314880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10/25/2026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7985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10/25/2026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1353402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10/25/2026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540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10/25/2026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227550"/>
            <a:ext cx="8674100" cy="486844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4231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10/25/2026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018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10/25/2026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164920"/>
            <a:ext cx="8674100" cy="4931079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66482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6EAE966-F590-4BAF-A55B-75735FCC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10/25/2026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330CA1C-4366-43E8-9DC8-B360FC11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2DB13F6-9193-4FE2-AE85-5B96248C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046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9895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83" r:id="rId5"/>
    <p:sldLayoutId id="2147483679" r:id="rId6"/>
    <p:sldLayoutId id="2147483680" r:id="rId7"/>
    <p:sldLayoutId id="2147483681" r:id="rId8"/>
    <p:sldLayoutId id="2147483682" r:id="rId9"/>
    <p:sldLayoutId id="2147483678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>
            <a:extLst>
              <a:ext uri="{FF2B5EF4-FFF2-40B4-BE49-F238E27FC236}">
                <a16:creationId xmlns:a16="http://schemas.microsoft.com/office/drawing/2014/main" id="{67FB4AA9-E9AF-4CE0-A0DC-99D795289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3012" y="398419"/>
            <a:ext cx="2037225" cy="611594"/>
          </a:xfrm>
          <a:prstGeom prst="rect">
            <a:avLst/>
          </a:prstGeom>
        </p:spPr>
      </p:pic>
      <p:sp>
        <p:nvSpPr>
          <p:cNvPr id="11" name="Title 6">
            <a:extLst>
              <a:ext uri="{FF2B5EF4-FFF2-40B4-BE49-F238E27FC236}">
                <a16:creationId xmlns:a16="http://schemas.microsoft.com/office/drawing/2014/main" id="{FF8BDF70-CFA6-4031-86B7-31F910D8115D}"/>
              </a:ext>
            </a:extLst>
          </p:cNvPr>
          <p:cNvSpPr txBox="1">
            <a:spLocks/>
          </p:cNvSpPr>
          <p:nvPr/>
        </p:nvSpPr>
        <p:spPr>
          <a:xfrm>
            <a:off x="413012" y="2421636"/>
            <a:ext cx="7342482" cy="848792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3900">
                <a:solidFill>
                  <a:srgbClr val="C8102E"/>
                </a:solidFill>
                <a:latin typeface="Arial" panose="020B0604020202020204" pitchFamily="34" charset="0"/>
              </a:rPr>
              <a:t>HustLingo: Thiết kế Backend</a:t>
            </a:r>
            <a:endParaRPr lang="en-US" sz="3900" dirty="0">
              <a:solidFill>
                <a:srgbClr val="C8102E"/>
              </a:solidFill>
              <a:latin typeface="Arial" panose="020B0604020202020204" pitchFamily="34" charset="0"/>
            </a:endParaRPr>
          </a:p>
        </p:txBody>
      </p:sp>
      <p:sp>
        <p:nvSpPr>
          <p:cNvPr id="12" name="Title 6">
            <a:extLst>
              <a:ext uri="{FF2B5EF4-FFF2-40B4-BE49-F238E27FC236}">
                <a16:creationId xmlns:a16="http://schemas.microsoft.com/office/drawing/2014/main" id="{A4ACF486-B7D8-4A5A-B633-83527A2F99E2}"/>
              </a:ext>
            </a:extLst>
          </p:cNvPr>
          <p:cNvSpPr txBox="1">
            <a:spLocks/>
          </p:cNvSpPr>
          <p:nvPr/>
        </p:nvSpPr>
        <p:spPr>
          <a:xfrm>
            <a:off x="413012" y="3567622"/>
            <a:ext cx="7342482" cy="848793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100" b="0">
                <a:solidFill>
                  <a:srgbClr val="C8102E"/>
                </a:solidFill>
                <a:latin typeface="Arial" panose="020B0604020202020204" pitchFamily="34" charset="0"/>
              </a:rPr>
              <a:t>Kiến trúc dữ liệu | Bảo mật | Đồng bộ tiến độ
Giải pháp kỹ thuật và trạng thái hiện thực hóa</a:t>
            </a:r>
            <a:endParaRPr lang="en-US" sz="2100" b="0" dirty="0">
              <a:solidFill>
                <a:srgbClr val="C8102E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F27CAA-32BA-4E6B-B8C0-1A481E08E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>
            <a:noAutofit/>
          </a:bodyPr>
          <a:lstStyle/>
          <a:p>
            <a:r>
              <a:rPr lang="en-US" sz="2400">
                <a:solidFill>
                  <a:srgbClr val="FFFFFF"/>
                </a:solidFill>
                <a:latin typeface="Arial" panose="020B0604020202020204" pitchFamily="34" charset="0"/>
              </a:rPr>
              <a:t>Thành viên nhóm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13184" y="1604865"/>
            <a:ext cx="1901952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8048" y="1604865"/>
            <a:ext cx="1792224" cy="9144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Oval 7"/>
          <p:cNvSpPr/>
          <p:nvPr/>
        </p:nvSpPr>
        <p:spPr>
          <a:xfrm>
            <a:off x="1006960" y="2062065"/>
            <a:ext cx="914400" cy="914400"/>
          </a:xfrm>
          <a:prstGeom prst="ellipse">
            <a:avLst/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6960" y="2062065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200" b="1" dirty="0">
                <a:solidFill>
                  <a:srgbClr val="C8102E"/>
                </a:solidFill>
                <a:latin typeface="Arial"/>
              </a:rPr>
              <a:t>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4624" y="3250785"/>
            <a:ext cx="171907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262A33"/>
                </a:solidFill>
                <a:latin typeface="Arial"/>
              </a:rPr>
              <a:t>Hoàng Minh Hải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9840" y="4028025"/>
            <a:ext cx="548640" cy="27432"/>
          </a:xfrm>
          <a:prstGeom prst="rect">
            <a:avLst/>
          </a:prstGeom>
          <a:solidFill>
            <a:srgbClr val="E39B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4624" y="4210905"/>
            <a:ext cx="17190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1">
                <a:solidFill>
                  <a:srgbClr val="5D6572"/>
                </a:solidFill>
                <a:latin typeface="Arial"/>
              </a:rPr>
              <a:t>MÃ SINH VIÊN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4624" y="4439505"/>
            <a:ext cx="17190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C8102E"/>
                </a:solidFill>
                <a:latin typeface="Consolas"/>
              </a:rPr>
              <a:t>20235072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25448" y="1604865"/>
            <a:ext cx="1901952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680312" y="1604865"/>
            <a:ext cx="1792224" cy="91440"/>
          </a:xfrm>
          <a:prstGeom prst="rect">
            <a:avLst/>
          </a:prstGeom>
          <a:solidFill>
            <a:srgbClr val="E39B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Oval 15"/>
          <p:cNvSpPr/>
          <p:nvPr/>
        </p:nvSpPr>
        <p:spPr>
          <a:xfrm>
            <a:off x="3119224" y="2062065"/>
            <a:ext cx="914400" cy="914400"/>
          </a:xfrm>
          <a:prstGeom prst="ellipse">
            <a:avLst/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119224" y="2062065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200" b="1">
                <a:solidFill>
                  <a:srgbClr val="C8102E"/>
                </a:solidFill>
                <a:latin typeface="Arial"/>
              </a:rPr>
              <a:t>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16888" y="3250785"/>
            <a:ext cx="171907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262A33"/>
                </a:solidFill>
                <a:latin typeface="Arial"/>
              </a:rPr>
              <a:t>Nguyễn Quang Huy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02104" y="4028025"/>
            <a:ext cx="548640" cy="27432"/>
          </a:xfrm>
          <a:prstGeom prst="rect">
            <a:avLst/>
          </a:prstGeom>
          <a:solidFill>
            <a:srgbClr val="E39B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716888" y="4210905"/>
            <a:ext cx="17190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1">
                <a:solidFill>
                  <a:srgbClr val="5D6572"/>
                </a:solidFill>
                <a:latin typeface="Arial"/>
              </a:rPr>
              <a:t>MÃ SINH VIÊN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16888" y="4439505"/>
            <a:ext cx="17190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C8102E"/>
                </a:solidFill>
                <a:latin typeface="Consolas"/>
              </a:rPr>
              <a:t>20230039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37712" y="1604865"/>
            <a:ext cx="1901952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792576" y="1604865"/>
            <a:ext cx="1792224" cy="9144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Oval 23"/>
          <p:cNvSpPr/>
          <p:nvPr/>
        </p:nvSpPr>
        <p:spPr>
          <a:xfrm>
            <a:off x="5231488" y="2062065"/>
            <a:ext cx="914400" cy="914400"/>
          </a:xfrm>
          <a:prstGeom prst="ellipse">
            <a:avLst/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231488" y="2062065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200" b="1">
                <a:solidFill>
                  <a:srgbClr val="C8102E"/>
                </a:solidFill>
                <a:latin typeface="Arial"/>
              </a:rPr>
              <a:t>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29152" y="3250785"/>
            <a:ext cx="171907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262A33"/>
                </a:solidFill>
                <a:latin typeface="Arial"/>
              </a:rPr>
              <a:t>Hoàng Đức Khánh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14368" y="4028025"/>
            <a:ext cx="548640" cy="27432"/>
          </a:xfrm>
          <a:prstGeom prst="rect">
            <a:avLst/>
          </a:prstGeom>
          <a:solidFill>
            <a:srgbClr val="E39B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29152" y="4210905"/>
            <a:ext cx="17190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1">
                <a:solidFill>
                  <a:srgbClr val="5D6572"/>
                </a:solidFill>
                <a:latin typeface="Arial"/>
              </a:rPr>
              <a:t>MÃ SINH VIÊN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29152" y="4439505"/>
            <a:ext cx="17190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C8102E"/>
                </a:solidFill>
                <a:latin typeface="Consolas"/>
              </a:rPr>
              <a:t>20235117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49976" y="1604865"/>
            <a:ext cx="1901952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904839" y="1604865"/>
            <a:ext cx="1792224" cy="91440"/>
          </a:xfrm>
          <a:prstGeom prst="rect">
            <a:avLst/>
          </a:prstGeom>
          <a:solidFill>
            <a:srgbClr val="E39B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Oval 31"/>
          <p:cNvSpPr/>
          <p:nvPr/>
        </p:nvSpPr>
        <p:spPr>
          <a:xfrm>
            <a:off x="7343751" y="2062065"/>
            <a:ext cx="914400" cy="914400"/>
          </a:xfrm>
          <a:prstGeom prst="ellipse">
            <a:avLst/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43751" y="2062065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200" b="1">
                <a:solidFill>
                  <a:srgbClr val="C8102E"/>
                </a:solidFill>
                <a:latin typeface="Arial"/>
              </a:rPr>
              <a:t>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1415" y="3250785"/>
            <a:ext cx="171907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262A33"/>
                </a:solidFill>
                <a:latin typeface="Arial"/>
              </a:rPr>
              <a:t>Nguyễn Tùng Dương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26631" y="4028025"/>
            <a:ext cx="548640" cy="27432"/>
          </a:xfrm>
          <a:prstGeom prst="rect">
            <a:avLst/>
          </a:prstGeom>
          <a:solidFill>
            <a:srgbClr val="E39B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941415" y="4210905"/>
            <a:ext cx="171907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00" b="1">
                <a:solidFill>
                  <a:srgbClr val="5D6572"/>
                </a:solidFill>
                <a:latin typeface="Arial"/>
              </a:rPr>
              <a:t>MÃ SINH VIÊN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1415" y="4439505"/>
            <a:ext cx="17190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C8102E"/>
                </a:solidFill>
                <a:latin typeface="Consolas"/>
              </a:rPr>
              <a:t>20230024</a:t>
            </a:r>
          </a:p>
        </p:txBody>
      </p:sp>
    </p:spTree>
    <p:extLst>
      <p:ext uri="{BB962C8B-B14F-4D97-AF65-F5344CB8AC3E}">
        <p14:creationId xmlns:p14="http://schemas.microsoft.com/office/powerpoint/2010/main" val="292364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76946D-AB92-4D05-97ED-4EDF0AB0F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492878"/>
            <a:ext cx="2057400" cy="365125"/>
          </a:xfrm>
          <a:prstGeom prst="rect">
            <a:avLst/>
          </a:prstGeom>
        </p:spPr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B6CB3A-046A-4C56-A02D-DBF672421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52" y="112543"/>
            <a:ext cx="8635896" cy="436098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r>
              <a:rPr lang="en-US" sz="2400">
                <a:solidFill>
                  <a:srgbClr val="FFFFFF"/>
                </a:solidFill>
                <a:latin typeface="Arial" panose="020B0604020202020204" pitchFamily="34" charset="0"/>
              </a:rPr>
              <a:t>1. Kiến trúc tổng quan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5D6572"/>
                </a:solidFill>
                <a:latin typeface="Arial"/>
              </a:rPr>
              <a:t>Serverless: app gọi Supabase SDK trực tiếp, không có API server tự quản.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2514600" cy="18745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21488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C8102E"/>
                </a:solidFill>
                <a:latin typeface="Arial"/>
              </a:rPr>
              <a:t>ỨNG DỤNG EXPO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21408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262A33"/>
                </a:solidFill>
                <a:latin typeface="Arial"/>
              </a:rPr>
              <a:t>Web · iOS · Android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2148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0">
                <a:solidFill>
                  <a:srgbClr val="5D6572"/>
                </a:solidFill>
                <a:latin typeface="Arial"/>
              </a:rPr>
              <a:t>AuthContext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0">
                <a:solidFill>
                  <a:srgbClr val="5D6572"/>
                </a:solidFill>
                <a:latin typeface="Arial"/>
              </a:rPr>
              <a:t>LearningContext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08376" y="2670048"/>
            <a:ext cx="274320" cy="0"/>
          </a:xfrm>
          <a:prstGeom prst="line">
            <a:avLst/>
          </a:prstGeom>
          <a:ln w="28575">
            <a:solidFill>
              <a:srgbClr val="C8102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319272" y="1737360"/>
            <a:ext cx="2514600" cy="1874519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3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02152" y="1874519"/>
            <a:ext cx="21488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C8102E"/>
                </a:solidFill>
                <a:latin typeface="Arial"/>
              </a:rPr>
              <a:t>SERVICE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2152" y="2121408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262A33"/>
                </a:solidFill>
                <a:latin typeface="Arial"/>
              </a:rPr>
              <a:t>2 module dữ liệu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2606040"/>
            <a:ext cx="2148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0">
                <a:solidFill>
                  <a:srgbClr val="5D6572"/>
                </a:solidFill>
                <a:latin typeface="Arial"/>
              </a:rPr>
              <a:t>learningContent: catalog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0">
                <a:solidFill>
                  <a:srgbClr val="5D6572"/>
                </a:solidFill>
                <a:latin typeface="Arial"/>
              </a:rPr>
              <a:t>supabaseData: profile, progress, feedback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870448" y="2670048"/>
            <a:ext cx="274320" cy="0"/>
          </a:xfrm>
          <a:prstGeom prst="line">
            <a:avLst/>
          </a:prstGeom>
          <a:ln w="28575">
            <a:solidFill>
              <a:srgbClr val="C8102E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181344" y="1737360"/>
            <a:ext cx="2514600" cy="1874519"/>
          </a:xfrm>
          <a:prstGeom prst="roundRect">
            <a:avLst>
              <a:gd name="adj" fmla="val 7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64224" y="1874519"/>
            <a:ext cx="21488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FFD27A"/>
                </a:solidFill>
                <a:latin typeface="Arial"/>
              </a:rPr>
              <a:t>SUPABASE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4224" y="2121408"/>
            <a:ext cx="2148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Backend quản lý sẵn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4224" y="2606040"/>
            <a:ext cx="21488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Auth · PostgREST API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PostgreSQL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0">
                <a:solidFill>
                  <a:srgbClr val="FFFFFF"/>
                </a:solidFill>
                <a:latin typeface="Arial"/>
              </a:rPr>
              <a:t>Row Level Security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794760"/>
            <a:ext cx="4023360" cy="1143000"/>
          </a:xfrm>
          <a:prstGeom prst="roundRect">
            <a:avLst>
              <a:gd name="adj" fmla="val 10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" y="393192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A60C25"/>
                </a:solidFill>
                <a:latin typeface="Arial"/>
              </a:rPr>
              <a:t>LƯU TRỮ TRÊN THIẾT BỊ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4206240"/>
            <a:ext cx="36118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262A33"/>
                </a:solidFill>
                <a:latin typeface="Arial"/>
              </a:rPr>
              <a:t>AsyncStorage giữ tiến độ guest và bản local của người học.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63440" y="3794760"/>
            <a:ext cx="4023360" cy="1143000"/>
          </a:xfrm>
          <a:prstGeom prst="roundRect">
            <a:avLst>
              <a:gd name="adj" fmla="val 10000"/>
            </a:avLst>
          </a:prstGeom>
          <a:solidFill>
            <a:srgbClr val="FFF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64607" y="393192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A86A00"/>
                </a:solidFill>
                <a:latin typeface="Arial"/>
              </a:rPr>
              <a:t>PIPELINE NỘI DUNG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64607" y="4206240"/>
            <a:ext cx="36118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262A33"/>
                </a:solidFill>
                <a:latin typeface="Arial"/>
              </a:rPr>
              <a:t>JSON / dataset → import-content.mjs → PostgreSQL. Service key chỉ dùng khi nhập.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166360"/>
            <a:ext cx="8229600" cy="502920"/>
          </a:xfrm>
          <a:prstGeom prst="roundRect">
            <a:avLst>
              <a:gd name="adj" fmla="val 20000"/>
            </a:avLst>
          </a:prstGeom>
          <a:solidFill>
            <a:srgbClr val="26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Oval 27"/>
          <p:cNvSpPr/>
          <p:nvPr/>
        </p:nvSpPr>
        <p:spPr>
          <a:xfrm>
            <a:off x="594360" y="5280660"/>
            <a:ext cx="274320" cy="274320"/>
          </a:xfrm>
          <a:prstGeom prst="ellipse">
            <a:avLst/>
          </a:prstGeom>
          <a:solidFill>
            <a:srgbClr val="E39B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4360" y="528066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262A33"/>
                </a:solidFill>
                <a:latin typeface="Arial"/>
              </a:rPr>
              <a:t>!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5166360"/>
            <a:ext cx="7543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RLS kiểm tra quyền ngay tại database; </a:t>
            </a:r>
            <a:r>
              <a:rPr sz="1200" b="1">
                <a:solidFill>
                  <a:srgbClr val="FFD27A"/>
                </a:solidFill>
                <a:latin typeface="Arial"/>
              </a:rPr>
              <a:t>khóa service role không nằm trong bundle ứng dụng.</a:t>
            </a:r>
          </a:p>
        </p:txBody>
      </p:sp>
    </p:spTree>
    <p:extLst>
      <p:ext uri="{BB962C8B-B14F-4D97-AF65-F5344CB8AC3E}">
        <p14:creationId xmlns:p14="http://schemas.microsoft.com/office/powerpoint/2010/main" val="64084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6E48C-4A45-A4A2-B897-BA6BAB4E1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B4FFF5-0E4D-F4C6-D03C-EBBB27961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492878"/>
            <a:ext cx="2057400" cy="365125"/>
          </a:xfrm>
          <a:prstGeom prst="rect">
            <a:avLst/>
          </a:prstGeom>
        </p:spPr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1AE11E-C19D-0E96-EC8C-65C1370B4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52" y="112543"/>
            <a:ext cx="8635896" cy="436098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/>
          <a:p>
            <a:r>
              <a:rPr lang="en-US" sz="2400">
                <a:solidFill>
                  <a:srgbClr val="FFFFFF"/>
                </a:solidFill>
                <a:latin typeface="Arial" panose="020B0604020202020204" pitchFamily="34" charset="0"/>
              </a:rPr>
              <a:t>1. Kiến trúc tổng quan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80B4B4-9B48-8E83-25F5-F61F12CCF0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887" y="1410647"/>
            <a:ext cx="8635896" cy="4728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253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9CAB07-B0CD-4712-9734-2D3CBC725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39C6F49-1887-4BE4-A583-FB79B8A22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>
            <a:noAutofit/>
          </a:bodyPr>
          <a:lstStyle/>
          <a:p>
            <a:r>
              <a:rPr lang="en-US" sz="2400">
                <a:solidFill>
                  <a:srgbClr val="FFFFFF"/>
                </a:solidFill>
                <a:latin typeface="Arial" panose="020B0604020202020204" pitchFamily="34" charset="0"/>
              </a:rPr>
              <a:t>2. Thiết kế dữ liệu và quan hệ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5D6572"/>
                </a:solidFill>
                <a:latin typeface="Arial"/>
              </a:rPr>
              <a:t>Hai vùng tách biệt: dữ liệu riêng của người dùng và kho nội dung dùng chung.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4023360" cy="365760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64008" cy="365760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C8102E"/>
                </a:solidFill>
                <a:latin typeface="Arial"/>
              </a:rPr>
              <a:t>DỮ LIỆU THÀNH VIÊN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63040" y="1874519"/>
            <a:ext cx="2011680" cy="640080"/>
          </a:xfrm>
          <a:prstGeom prst="roundRect">
            <a:avLst>
              <a:gd name="adj" fmla="val 12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591056" y="1956815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C8102E"/>
                </a:solidFill>
                <a:latin typeface="Consolas"/>
              </a:rPr>
              <a:t>auth.users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2231136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5D6572"/>
                </a:solidFill>
                <a:latin typeface="Arial"/>
              </a:rPr>
              <a:t>Danh tính Supabase Auth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971800"/>
            <a:ext cx="1170432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6384" y="3054096"/>
            <a:ext cx="987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262A33"/>
                </a:solidFill>
                <a:latin typeface="Consolas"/>
              </a:rPr>
              <a:t>profiles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3328416"/>
            <a:ext cx="9875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5D6572"/>
                </a:solidFill>
                <a:latin typeface="Arial"/>
              </a:rPr>
              <a:t>1 : 1 hồ sơ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1243584" y="2532888"/>
            <a:ext cx="1225296" cy="429768"/>
          </a:xfrm>
          <a:prstGeom prst="line">
            <a:avLst/>
          </a:prstGeom>
          <a:ln w="15875">
            <a:solidFill>
              <a:srgbClr val="5D65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901952" y="2971800"/>
            <a:ext cx="1170432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029968" y="3054096"/>
            <a:ext cx="987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262A33"/>
                </a:solidFill>
                <a:latin typeface="Consolas"/>
              </a:rPr>
              <a:t>progress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29968" y="3328416"/>
            <a:ext cx="9875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5D6572"/>
                </a:solidFill>
                <a:latin typeface="Arial"/>
              </a:rPr>
              <a:t>JSONB / user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468880" y="2532888"/>
            <a:ext cx="18288" cy="429768"/>
          </a:xfrm>
          <a:prstGeom prst="line">
            <a:avLst/>
          </a:prstGeom>
          <a:ln w="15875">
            <a:solidFill>
              <a:srgbClr val="5D65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145536" y="2971800"/>
            <a:ext cx="1170432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73552" y="3054096"/>
            <a:ext cx="98755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262A33"/>
                </a:solidFill>
                <a:latin typeface="Consolas"/>
              </a:rPr>
              <a:t>feedback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73552" y="3328416"/>
            <a:ext cx="9875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5D6572"/>
                </a:solidFill>
                <a:latin typeface="Arial"/>
              </a:rPr>
              <a:t>1 : N góp ý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68880" y="2532888"/>
            <a:ext cx="1261872" cy="429768"/>
          </a:xfrm>
          <a:prstGeom prst="line">
            <a:avLst/>
          </a:prstGeom>
          <a:ln w="15875">
            <a:solidFill>
              <a:srgbClr val="5D65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85800" y="3886200"/>
            <a:ext cx="3657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5D6572"/>
                </a:solidFill>
                <a:latin typeface="Arial"/>
              </a:rPr>
              <a:t>Mọi hàng cá nhân đều gắn </a:t>
            </a:r>
            <a:r>
              <a:rPr sz="1100" b="1">
                <a:solidFill>
                  <a:srgbClr val="C8102E"/>
                </a:solidFill>
                <a:latin typeface="Consolas"/>
              </a:rPr>
              <a:t>user_id / id</a:t>
            </a:r>
            <a:r>
              <a:rPr sz="1100" b="0">
                <a:solidFill>
                  <a:srgbClr val="5D6572"/>
                </a:solidFill>
                <a:latin typeface="Arial"/>
              </a:rPr>
              <a:t> của chủ sở hữu.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63440" y="1417320"/>
            <a:ext cx="4023360" cy="3657600"/>
          </a:xfrm>
          <a:prstGeom prst="roundRect">
            <a:avLst>
              <a:gd name="adj" fmla="val 4000"/>
            </a:avLst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663440" y="1417320"/>
            <a:ext cx="64008" cy="3657600"/>
          </a:xfrm>
          <a:prstGeom prst="rect">
            <a:avLst/>
          </a:prstGeom>
          <a:solidFill>
            <a:srgbClr val="E39B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92040" y="155448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A86A00"/>
                </a:solidFill>
                <a:latin typeface="Arial"/>
              </a:rPr>
              <a:t>KHO NỘI DUNG HỌC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64608" y="1874519"/>
            <a:ext cx="1719072" cy="640080"/>
          </a:xfrm>
          <a:prstGeom prst="roundRect">
            <a:avLst>
              <a:gd name="adj" fmla="val 12000"/>
            </a:avLst>
          </a:prstGeom>
          <a:solidFill>
            <a:srgbClr val="FFF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992624" y="1956815"/>
            <a:ext cx="15361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262A33"/>
                </a:solidFill>
                <a:latin typeface="Consolas"/>
              </a:rPr>
              <a:t>topics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92624" y="2231136"/>
            <a:ext cx="15361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5D6572"/>
                </a:solidFill>
                <a:latin typeface="Arial"/>
              </a:rPr>
              <a:t>Chủ đề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784848" y="1874519"/>
            <a:ext cx="1755648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912864" y="1956815"/>
            <a:ext cx="15727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262A33"/>
                </a:solidFill>
                <a:latin typeface="Consolas"/>
              </a:rPr>
              <a:t>vocabulary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12864" y="2231136"/>
            <a:ext cx="157276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5D6572"/>
                </a:solidFill>
                <a:latin typeface="Arial"/>
              </a:rPr>
              <a:t>Từ vựng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864608" y="2926080"/>
            <a:ext cx="1719072" cy="640080"/>
          </a:xfrm>
          <a:prstGeom prst="roundRect">
            <a:avLst>
              <a:gd name="adj" fmla="val 12000"/>
            </a:avLst>
          </a:prstGeom>
          <a:solidFill>
            <a:srgbClr val="FFF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992624" y="3008376"/>
            <a:ext cx="15361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262A33"/>
                </a:solidFill>
                <a:latin typeface="Consolas"/>
              </a:rPr>
              <a:t>lessons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92624" y="3282696"/>
            <a:ext cx="15361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5D6572"/>
                </a:solidFill>
                <a:latin typeface="Arial"/>
              </a:rPr>
              <a:t>Bài học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784848" y="2926080"/>
            <a:ext cx="1755648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912864" y="3008376"/>
            <a:ext cx="15727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262A33"/>
                </a:solidFill>
                <a:latin typeface="Consolas"/>
              </a:rPr>
              <a:t>lesson_items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12864" y="3282696"/>
            <a:ext cx="157276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5D6572"/>
                </a:solidFill>
                <a:latin typeface="Arial"/>
              </a:rPr>
              <a:t>Mục trong bài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864608" y="3977639"/>
            <a:ext cx="1719072" cy="640080"/>
          </a:xfrm>
          <a:prstGeom prst="roundRect">
            <a:avLst>
              <a:gd name="adj" fmla="val 12000"/>
            </a:avLst>
          </a:prstGeom>
          <a:solidFill>
            <a:srgbClr val="FFF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992624" y="4059935"/>
            <a:ext cx="15361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262A33"/>
                </a:solidFill>
                <a:latin typeface="Consolas"/>
              </a:rPr>
              <a:t>grammar_points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92624" y="4334255"/>
            <a:ext cx="15361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5D6572"/>
                </a:solidFill>
                <a:latin typeface="Arial"/>
              </a:rPr>
              <a:t>Điểm ngữ pháp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784848" y="3977639"/>
            <a:ext cx="1755648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3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912864" y="4059935"/>
            <a:ext cx="157276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262A33"/>
                </a:solidFill>
                <a:latin typeface="Consolas"/>
              </a:rPr>
              <a:t>grammar_examples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12864" y="4334255"/>
            <a:ext cx="157276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0">
                <a:solidFill>
                  <a:srgbClr val="5D6572"/>
                </a:solidFill>
                <a:latin typeface="Arial"/>
              </a:rPr>
              <a:t>Ví dụ ngữ pháp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601968" y="2194560"/>
            <a:ext cx="164592" cy="0"/>
          </a:xfrm>
          <a:prstGeom prst="line">
            <a:avLst/>
          </a:prstGeom>
          <a:ln w="19050">
            <a:solidFill>
              <a:srgbClr val="A86A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601968" y="3246120"/>
            <a:ext cx="164592" cy="0"/>
          </a:xfrm>
          <a:prstGeom prst="line">
            <a:avLst/>
          </a:prstGeom>
          <a:ln w="19050">
            <a:solidFill>
              <a:srgbClr val="A86A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6601968" y="4297679"/>
            <a:ext cx="164592" cy="0"/>
          </a:xfrm>
          <a:prstGeom prst="line">
            <a:avLst/>
          </a:prstGeom>
          <a:ln w="19050">
            <a:solidFill>
              <a:srgbClr val="A86A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5724144" y="2523744"/>
            <a:ext cx="0" cy="393192"/>
          </a:xfrm>
          <a:prstGeom prst="line">
            <a:avLst/>
          </a:prstGeom>
          <a:ln w="19050">
            <a:solidFill>
              <a:srgbClr val="A86A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457200" y="5303520"/>
            <a:ext cx="8229600" cy="502920"/>
          </a:xfrm>
          <a:prstGeom prst="roundRect">
            <a:avLst>
              <a:gd name="adj" fmla="val 20000"/>
            </a:avLst>
          </a:prstGeom>
          <a:solidFill>
            <a:srgbClr val="26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1" name="Oval 50"/>
          <p:cNvSpPr/>
          <p:nvPr/>
        </p:nvSpPr>
        <p:spPr>
          <a:xfrm>
            <a:off x="594360" y="5417820"/>
            <a:ext cx="274320" cy="274320"/>
          </a:xfrm>
          <a:prstGeom prst="ellipse">
            <a:avLst/>
          </a:prstGeom>
          <a:solidFill>
            <a:srgbClr val="E39B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94360" y="541782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262A33"/>
                </a:solidFill>
                <a:latin typeface="Arial"/>
              </a:rPr>
              <a:t>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5840" y="5303520"/>
            <a:ext cx="7543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Khóa ngoại + constraint giữ quan hệ hợp lệ; </a:t>
            </a:r>
            <a:r>
              <a:rPr sz="1200" b="1">
                <a:solidFill>
                  <a:srgbClr val="FFD27A"/>
                </a:solidFill>
                <a:latin typeface="Consolas"/>
              </a:rPr>
              <a:t>lesson_items</a:t>
            </a:r>
            <a:r>
              <a:rPr sz="1200" b="0">
                <a:solidFill>
                  <a:srgbClr val="FFFFFF"/>
                </a:solidFill>
                <a:latin typeface="Arial"/>
              </a:rPr>
              <a:t> trỏ đúng một loại nội dung.</a:t>
            </a:r>
          </a:p>
        </p:txBody>
      </p:sp>
    </p:spTree>
    <p:extLst>
      <p:ext uri="{BB962C8B-B14F-4D97-AF65-F5344CB8AC3E}">
        <p14:creationId xmlns:p14="http://schemas.microsoft.com/office/powerpoint/2010/main" val="27513584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C38CB-431B-FFBC-E19B-F060F0A3E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E64476-E3F7-9A5D-9AF7-18B8C323E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8539159-B328-5750-9519-7AF79CC90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>
            <a:noAutofit/>
          </a:bodyPr>
          <a:lstStyle/>
          <a:p>
            <a:r>
              <a:rPr lang="en-US" sz="2400">
                <a:solidFill>
                  <a:srgbClr val="FFFFFF"/>
                </a:solidFill>
                <a:latin typeface="Arial" panose="020B0604020202020204" pitchFamily="34" charset="0"/>
              </a:rPr>
              <a:t>2. Thiết kế dữ liệu và quan hệ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ED36902-10B3-00BF-31DA-0120CAEBB0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763" y="894981"/>
            <a:ext cx="7916473" cy="5312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912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AD8E52-349C-EF76-69EB-C09C6078A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131D202-5F2A-ABF7-24FC-3F311F569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>
            <a:noAutofit/>
          </a:bodyPr>
          <a:lstStyle/>
          <a:p>
            <a:r>
              <a:rPr lang="en-US" sz="2400">
                <a:solidFill>
                  <a:srgbClr val="FFFFFF"/>
                </a:solidFill>
                <a:latin typeface="Arial" panose="020B0604020202020204" pitchFamily="34" charset="0"/>
              </a:rPr>
              <a:t>3. Xác thực và bảo mật dữ liệu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984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5D6572"/>
                </a:solidFill>
                <a:latin typeface="Arial"/>
              </a:rPr>
              <a:t>Đăng nhập qua Supabase Auth, phân quyền ngay trong Postgres.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C8102E"/>
                </a:solidFill>
                <a:latin typeface="Arial"/>
              </a:rPr>
              <a:t>ĐĂNG NHẬP VÀ KHỞI TẠO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331720"/>
            <a:ext cx="27432" cy="2286000"/>
          </a:xfrm>
          <a:prstGeom prst="rect">
            <a:avLst/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Oval 8"/>
          <p:cNvSpPr/>
          <p:nvPr/>
        </p:nvSpPr>
        <p:spPr>
          <a:xfrm>
            <a:off x="457200" y="2148840"/>
            <a:ext cx="402336" cy="402336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214884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103120"/>
            <a:ext cx="32918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62A33"/>
                </a:solidFill>
                <a:latin typeface="Arial"/>
              </a:rPr>
              <a:t>Google OAuth hoặc email / password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2880360"/>
            <a:ext cx="402336" cy="402336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288036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2834640"/>
            <a:ext cx="32918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62A33"/>
                </a:solidFill>
                <a:latin typeface="Arial"/>
              </a:rPr>
              <a:t>Supabase Auth cấp session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3611880"/>
            <a:ext cx="402336" cy="402336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361188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" y="3566160"/>
            <a:ext cx="32918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62A33"/>
                </a:solidFill>
                <a:latin typeface="Arial"/>
              </a:rPr>
              <a:t>Trigger tạo profiles + learning_progress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4343400"/>
            <a:ext cx="402336" cy="402336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4343400"/>
            <a:ext cx="40233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4297680"/>
            <a:ext cx="32918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0">
                <a:solidFill>
                  <a:srgbClr val="262A33"/>
                </a:solidFill>
                <a:latin typeface="Arial"/>
              </a:rPr>
              <a:t>Web dùng callback PKCE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26280" y="1737360"/>
            <a:ext cx="4160520" cy="3200400"/>
          </a:xfrm>
          <a:prstGeom prst="roundRect">
            <a:avLst>
              <a:gd name="adj" fmla="val 5000"/>
            </a:avLst>
          </a:prstGeom>
          <a:solidFill>
            <a:srgbClr val="26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54880" y="1901952"/>
            <a:ext cx="3840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FFD27A"/>
                </a:solidFill>
                <a:latin typeface="Arial"/>
              </a:rPr>
              <a:t>QUYỀN TRUY CẬP TẠI POSTGRES · RLS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0" y="2267712"/>
            <a:ext cx="3703320" cy="512064"/>
          </a:xfrm>
          <a:prstGeom prst="roundRect">
            <a:avLst>
              <a:gd name="adj" fmla="val 15000"/>
            </a:avLst>
          </a:prstGeom>
          <a:solidFill>
            <a:srgbClr val="34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92040" y="2267712"/>
            <a:ext cx="160020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C3C7D0"/>
                </a:solidFill>
                <a:latin typeface="Consolas"/>
              </a:rPr>
              <a:t>profiles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267712"/>
            <a:ext cx="192024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onsolas"/>
              </a:rPr>
              <a:t>auth.uid() = id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54880" y="2907791"/>
            <a:ext cx="3703320" cy="512064"/>
          </a:xfrm>
          <a:prstGeom prst="roundRect">
            <a:avLst>
              <a:gd name="adj" fmla="val 15000"/>
            </a:avLst>
          </a:prstGeom>
          <a:solidFill>
            <a:srgbClr val="34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92040" y="2907791"/>
            <a:ext cx="160020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C3C7D0"/>
                </a:solidFill>
                <a:latin typeface="Consolas"/>
              </a:rPr>
              <a:t>learning_progress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2907791"/>
            <a:ext cx="192024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onsolas"/>
              </a:rPr>
              <a:t>auth.uid() = user_id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54880" y="3547872"/>
            <a:ext cx="3703320" cy="512064"/>
          </a:xfrm>
          <a:prstGeom prst="roundRect">
            <a:avLst>
              <a:gd name="adj" fmla="val 15000"/>
            </a:avLst>
          </a:prstGeom>
          <a:solidFill>
            <a:srgbClr val="34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892040" y="3547872"/>
            <a:ext cx="160020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C3C7D0"/>
                </a:solidFill>
                <a:latin typeface="Consolas"/>
              </a:rPr>
              <a:t>catalog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3547872"/>
            <a:ext cx="192024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onsolas"/>
              </a:rPr>
              <a:t>SELECT is_published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0" y="4187952"/>
            <a:ext cx="3703320" cy="512064"/>
          </a:xfrm>
          <a:prstGeom prst="roundRect">
            <a:avLst>
              <a:gd name="adj" fmla="val 15000"/>
            </a:avLst>
          </a:prstGeom>
          <a:solidFill>
            <a:srgbClr val="34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892040" y="4187952"/>
            <a:ext cx="160020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C3C7D0"/>
                </a:solidFill>
                <a:latin typeface="Consolas"/>
              </a:rPr>
              <a:t>client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4187952"/>
            <a:ext cx="192024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onsolas"/>
              </a:rPr>
              <a:t>publishable key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166360"/>
            <a:ext cx="8229600" cy="548640"/>
          </a:xfrm>
          <a:prstGeom prst="roundRect">
            <a:avLst>
              <a:gd name="adj" fmla="val 20000"/>
            </a:avLst>
          </a:prstGeom>
          <a:solidFill>
            <a:srgbClr val="A60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Oval 35"/>
          <p:cNvSpPr/>
          <p:nvPr/>
        </p:nvSpPr>
        <p:spPr>
          <a:xfrm>
            <a:off x="594360" y="5303520"/>
            <a:ext cx="274320" cy="274320"/>
          </a:xfrm>
          <a:prstGeom prst="ellipse">
            <a:avLst/>
          </a:prstGeom>
          <a:solidFill>
            <a:srgbClr val="E39B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94360" y="530352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A60C25"/>
                </a:solidFill>
                <a:latin typeface="Arial"/>
              </a:rPr>
              <a:t>!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" y="5166360"/>
            <a:ext cx="75438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Service role vượt được RLS: </a:t>
            </a:r>
            <a:r>
              <a:rPr sz="1200" b="0">
                <a:solidFill>
                  <a:srgbClr val="FFFFFF"/>
                </a:solidFill>
                <a:latin typeface="Arial"/>
              </a:rPr>
              <a:t>chỉ dùng trong importer phía server, tuyệt đối không nhúng vào app.</a:t>
            </a:r>
          </a:p>
        </p:txBody>
      </p:sp>
    </p:spTree>
    <p:extLst>
      <p:ext uri="{BB962C8B-B14F-4D97-AF65-F5344CB8AC3E}">
        <p14:creationId xmlns:p14="http://schemas.microsoft.com/office/powerpoint/2010/main" val="1341840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42A61-7C00-77A1-DC07-8DFF11A93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35CDBBD-2CC1-97E6-0CCE-7D68EED4A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F889F73-86C4-1C9C-6152-714924D4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>
            <a:noAutofit/>
          </a:bodyPr>
          <a:lstStyle/>
          <a:p>
            <a:r>
              <a:rPr lang="en-US" sz="2400">
                <a:solidFill>
                  <a:srgbClr val="FFFFFF"/>
                </a:solidFill>
                <a:latin typeface="Arial" panose="020B0604020202020204" pitchFamily="34" charset="0"/>
              </a:rPr>
              <a:t>3. Xác thực và bảo mật dữ liệu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C51334-5F43-DA75-20C7-07E8760AD0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39" y="1252389"/>
            <a:ext cx="8960921" cy="4981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2145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7E207-A869-B342-B6D9-77005A268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>
            <a:noAutofit/>
          </a:bodyPr>
          <a:lstStyle/>
          <a:p>
            <a:r>
              <a:rPr lang="en-US" sz="2400">
                <a:solidFill>
                  <a:srgbClr val="FFFFFF"/>
                </a:solidFill>
                <a:latin typeface="Arial" panose="020B0604020202020204" pitchFamily="34" charset="0"/>
              </a:rPr>
              <a:t>4. Giải pháp đồng bộ tiến độ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3CF161-A6C1-F8C7-C9A5-5CD5BD5C1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5D6572"/>
                </a:solidFill>
                <a:latin typeface="Arial"/>
              </a:rPr>
              <a:t>Luồng đang chạy trong LearningContext và supabaseData.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828800"/>
            <a:ext cx="6400800" cy="36576"/>
          </a:xfrm>
          <a:prstGeom prst="rect">
            <a:avLst/>
          </a:prstGeom>
          <a:solidFill>
            <a:srgbClr val="F3C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Oval 7"/>
          <p:cNvSpPr/>
          <p:nvPr/>
        </p:nvSpPr>
        <p:spPr>
          <a:xfrm>
            <a:off x="457200" y="1508760"/>
            <a:ext cx="685800" cy="68580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50876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31720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262A33"/>
                </a:solidFill>
                <a:latin typeface="Arial"/>
              </a:rPr>
              <a:t>Ghi local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70048"/>
            <a:ext cx="187451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5D6572"/>
                </a:solidFill>
                <a:latin typeface="Arial"/>
              </a:rPr>
              <a:t>AsyncStorage lưu state sau mỗi thao tác học.</a:t>
            </a:r>
          </a:p>
        </p:txBody>
      </p:sp>
      <p:sp>
        <p:nvSpPr>
          <p:cNvPr id="12" name="Oval 11"/>
          <p:cNvSpPr/>
          <p:nvPr/>
        </p:nvSpPr>
        <p:spPr>
          <a:xfrm>
            <a:off x="2569464" y="1508760"/>
            <a:ext cx="685800" cy="68580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569464" y="150876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9464" y="2331720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262A33"/>
                </a:solidFill>
                <a:latin typeface="Arial"/>
              </a:rPr>
              <a:t>Đọc cloud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9464" y="2670048"/>
            <a:ext cx="187451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5D6572"/>
                </a:solidFill>
                <a:latin typeface="Arial"/>
              </a:rPr>
              <a:t>Khi đăng nhập, tải learning_progress.</a:t>
            </a:r>
          </a:p>
        </p:txBody>
      </p:sp>
      <p:sp>
        <p:nvSpPr>
          <p:cNvPr id="16" name="Oval 15"/>
          <p:cNvSpPr/>
          <p:nvPr/>
        </p:nvSpPr>
        <p:spPr>
          <a:xfrm>
            <a:off x="4681728" y="1508760"/>
            <a:ext cx="685800" cy="685800"/>
          </a:xfrm>
          <a:prstGeom prst="ellipse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81728" y="150876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1728" y="2331720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262A33"/>
                </a:solidFill>
                <a:latin typeface="Arial"/>
              </a:rPr>
              <a:t>Hợp nhất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1728" y="2670048"/>
            <a:ext cx="187451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5D6572"/>
                </a:solidFill>
                <a:latin typeface="Arial"/>
              </a:rPr>
              <a:t>Hợp các danh sách ID, gộp local và cloud.</a:t>
            </a:r>
          </a:p>
        </p:txBody>
      </p:sp>
      <p:sp>
        <p:nvSpPr>
          <p:cNvPr id="20" name="Oval 19"/>
          <p:cNvSpPr/>
          <p:nvPr/>
        </p:nvSpPr>
        <p:spPr>
          <a:xfrm>
            <a:off x="6793992" y="1508760"/>
            <a:ext cx="685800" cy="685800"/>
          </a:xfrm>
          <a:prstGeom prst="ellipse">
            <a:avLst/>
          </a:prstGeom>
          <a:solidFill>
            <a:srgbClr val="E39B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93992" y="150876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93992" y="2331720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>
                <a:solidFill>
                  <a:srgbClr val="262A33"/>
                </a:solidFill>
                <a:latin typeface="Arial"/>
              </a:rPr>
              <a:t>Upsert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93992" y="2670048"/>
            <a:ext cx="1874519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5D6572"/>
                </a:solidFill>
                <a:latin typeface="Arial"/>
              </a:rPr>
              <a:t>Debounce 1,2 giây rồi ghi JSONB theo user.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657600"/>
            <a:ext cx="4023360" cy="1325880"/>
          </a:xfrm>
          <a:prstGeom prst="roundRect">
            <a:avLst>
              <a:gd name="adj" fmla="val 10000"/>
            </a:avLst>
          </a:prstGeom>
          <a:solidFill>
            <a:srgbClr val="ED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" y="379476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28724F"/>
                </a:solidFill>
                <a:latin typeface="Arial"/>
              </a:rPr>
              <a:t>✓  ĐÃ CÓ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4096512"/>
            <a:ext cx="3611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262A33"/>
                </a:solidFill>
                <a:latin typeface="Arial"/>
              </a:rPr>
              <a:t>Guest học local; người đăng nhập có syncNow và tự ghi cloud sau mỗi thay đổi.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63440" y="3657600"/>
            <a:ext cx="4023360" cy="1325880"/>
          </a:xfrm>
          <a:prstGeom prst="roundRect">
            <a:avLst>
              <a:gd name="adj" fmla="val 10000"/>
            </a:avLst>
          </a:prstGeom>
          <a:solidFill>
            <a:srgbClr val="FFF7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64607" y="379476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1">
                <a:solidFill>
                  <a:srgbClr val="A86A00"/>
                </a:solidFill>
                <a:latin typeface="Arial"/>
              </a:rPr>
              <a:t>△  GIỚI HẠN HIỆN TẠI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64607" y="4096512"/>
            <a:ext cx="3611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262A33"/>
                </a:solidFill>
                <a:latin typeface="Arial"/>
              </a:rPr>
              <a:t>Lỗi mạng bị bỏ qua; chưa có outbox bền, retry hay xử lý xung đột giữa thiết bị.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212080"/>
            <a:ext cx="8229600" cy="502920"/>
          </a:xfrm>
          <a:prstGeom prst="roundRect">
            <a:avLst>
              <a:gd name="adj" fmla="val 20000"/>
            </a:avLst>
          </a:prstGeom>
          <a:solidFill>
            <a:srgbClr val="26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Oval 30"/>
          <p:cNvSpPr/>
          <p:nvPr/>
        </p:nvSpPr>
        <p:spPr>
          <a:xfrm>
            <a:off x="594360" y="5326380"/>
            <a:ext cx="274320" cy="274320"/>
          </a:xfrm>
          <a:prstGeom prst="ellipse">
            <a:avLst/>
          </a:prstGeom>
          <a:solidFill>
            <a:srgbClr val="E39B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94360" y="532638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262A33"/>
                </a:solidFill>
                <a:latin typeface="Arial"/>
              </a:rPr>
              <a:t>↑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5212080"/>
            <a:ext cx="7543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FFD27A"/>
                </a:solidFill>
                <a:latin typeface="Arial"/>
              </a:rPr>
              <a:t>Nâng cấp: </a:t>
            </a:r>
            <a:r>
              <a:rPr sz="1200" b="0">
                <a:solidFill>
                  <a:srgbClr val="FFFFFF"/>
                </a:solidFill>
                <a:latin typeface="Arial"/>
              </a:rPr>
              <a:t>outbox + retry backoff + ID idempotent; RPC cập nhật bộ đếm nguyên tử.</a:t>
            </a:r>
          </a:p>
        </p:txBody>
      </p:sp>
    </p:spTree>
    <p:extLst>
      <p:ext uri="{BB962C8B-B14F-4D97-AF65-F5344CB8AC3E}">
        <p14:creationId xmlns:p14="http://schemas.microsoft.com/office/powerpoint/2010/main" val="36514988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83E4BF-5930-A965-9FF3-1D88E1492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025AA-5D55-E0A5-5105-7507F0075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>
            <a:noAutofit/>
          </a:bodyPr>
          <a:lstStyle/>
          <a:p>
            <a:r>
              <a:rPr lang="en-US" sz="2400">
                <a:solidFill>
                  <a:srgbClr val="FFFFFF"/>
                </a:solidFill>
                <a:latin typeface="Arial" panose="020B0604020202020204" pitchFamily="34" charset="0"/>
              </a:rPr>
              <a:t>4. Giải pháp đồng bộ tiến độ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B9E361-240C-A10B-1002-FDFADB9C4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10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F48083-A3EA-8B80-E5EE-7781DBE5A9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39" y="938154"/>
            <a:ext cx="8960921" cy="4981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2528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A5FD9F-F079-E7CB-275B-4B407F732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E73DABA-0E07-DDEE-86EE-B4224D9C9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>
            <a:noAutofit/>
          </a:bodyPr>
          <a:lstStyle/>
          <a:p>
            <a:r>
              <a:rPr lang="en-US" sz="2400">
                <a:solidFill>
                  <a:srgbClr val="FFFFFF"/>
                </a:solidFill>
                <a:latin typeface="Arial" panose="020B0604020202020204" pitchFamily="34" charset="0"/>
              </a:rPr>
              <a:t>5. Pipeline nội dung và quy mô catalog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984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5D6572"/>
                </a:solidFill>
                <a:latin typeface="Arial"/>
              </a:rPr>
              <a:t>Số hàng ước tính đang hiển thị trong Supabase Studio.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91640"/>
            <a:ext cx="1901952" cy="1234440"/>
          </a:xfrm>
          <a:prstGeom prst="roundRect">
            <a:avLst>
              <a:gd name="adj" fmla="val 8000"/>
            </a:avLst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162763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rial"/>
              </a:rPr>
              <a:t>10.000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87168"/>
            <a:ext cx="1627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FFE3E7"/>
                </a:solidFill>
                <a:latin typeface="Arial"/>
              </a:rPr>
              <a:t>từ vựng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9464" y="1691640"/>
            <a:ext cx="1901952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52344" y="1783080"/>
            <a:ext cx="162763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1">
                <a:solidFill>
                  <a:srgbClr val="C8102E"/>
                </a:solidFill>
                <a:latin typeface="Arial"/>
              </a:rPr>
              <a:t>4.227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52344" y="2487168"/>
            <a:ext cx="1627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5D6572"/>
                </a:solidFill>
                <a:latin typeface="Consolas"/>
              </a:rPr>
              <a:t>lesson_items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81728" y="1691640"/>
            <a:ext cx="1901952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64608" y="1783080"/>
            <a:ext cx="162763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1">
                <a:solidFill>
                  <a:srgbClr val="C8102E"/>
                </a:solidFill>
                <a:latin typeface="Arial"/>
              </a:rPr>
              <a:t>169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4608" y="2487168"/>
            <a:ext cx="1627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5D6572"/>
                </a:solidFill>
                <a:latin typeface="Arial"/>
              </a:rPr>
              <a:t>bài học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93992" y="1691640"/>
            <a:ext cx="1901952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76872" y="1783080"/>
            <a:ext cx="1627632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200" b="1">
                <a:solidFill>
                  <a:srgbClr val="C8102E"/>
                </a:solidFill>
                <a:latin typeface="Arial"/>
              </a:rPr>
              <a:t>98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76872" y="2487168"/>
            <a:ext cx="162763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5D6572"/>
                </a:solidFill>
                <a:latin typeface="Arial"/>
              </a:rPr>
              <a:t>điểm ngữ pháp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017520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>
                <a:solidFill>
                  <a:srgbClr val="5D6572"/>
                </a:solidFill>
                <a:latin typeface="Consolas"/>
              </a:rPr>
              <a:t>+ 15 topics  ·  196 grammar_examples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47472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00" b="1">
                <a:solidFill>
                  <a:srgbClr val="C8102E"/>
                </a:solidFill>
                <a:latin typeface="Arial"/>
              </a:rPr>
              <a:t>PIPELINE NHẬP NỘI DUNG</a:t>
            </a:r>
          </a:p>
        </p:txBody>
      </p:sp>
      <p:sp>
        <p:nvSpPr>
          <p:cNvPr id="20" name="Pentagon 19"/>
          <p:cNvSpPr/>
          <p:nvPr/>
        </p:nvSpPr>
        <p:spPr>
          <a:xfrm>
            <a:off x="457200" y="3794760"/>
            <a:ext cx="2121408" cy="914400"/>
          </a:xfrm>
          <a:prstGeom prst="homePlate">
            <a:avLst>
              <a:gd name="adj" fmla="val 25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1792" y="388620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C8102E"/>
                </a:solidFill>
                <a:latin typeface="Arial"/>
              </a:rPr>
              <a:t>Dataset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4160520"/>
            <a:ext cx="14173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262A33"/>
                </a:solidFill>
                <a:latin typeface="Arial"/>
              </a:rPr>
              <a:t>JSON / chuẩn hóa</a:t>
            </a:r>
          </a:p>
        </p:txBody>
      </p:sp>
      <p:sp>
        <p:nvSpPr>
          <p:cNvPr id="23" name="Chevron 22"/>
          <p:cNvSpPr/>
          <p:nvPr/>
        </p:nvSpPr>
        <p:spPr>
          <a:xfrm>
            <a:off x="2532888" y="3794760"/>
            <a:ext cx="2121408" cy="914400"/>
          </a:xfrm>
          <a:prstGeom prst="chevron">
            <a:avLst>
              <a:gd name="adj" fmla="val 25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880360" y="388620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C8102E"/>
                </a:solidFill>
                <a:latin typeface="Arial"/>
              </a:rPr>
              <a:t>Importer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0360" y="4160520"/>
            <a:ext cx="14173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262A33"/>
                </a:solidFill>
                <a:latin typeface="Arial"/>
              </a:rPr>
              <a:t>import-content.mjs, upsert theo lô</a:t>
            </a:r>
          </a:p>
        </p:txBody>
      </p:sp>
      <p:sp>
        <p:nvSpPr>
          <p:cNvPr id="26" name="Chevron 25"/>
          <p:cNvSpPr/>
          <p:nvPr/>
        </p:nvSpPr>
        <p:spPr>
          <a:xfrm>
            <a:off x="4608576" y="3794760"/>
            <a:ext cx="2121408" cy="914400"/>
          </a:xfrm>
          <a:prstGeom prst="chevron">
            <a:avLst>
              <a:gd name="adj" fmla="val 25000"/>
            </a:avLst>
          </a:prstGeom>
          <a:solidFill>
            <a:srgbClr val="26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956048" y="388620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PostgreSQL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56048" y="4160520"/>
            <a:ext cx="14173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D5D8DE"/>
                </a:solidFill>
                <a:latin typeface="Arial"/>
              </a:rPr>
              <a:t>RLS · is_published</a:t>
            </a:r>
          </a:p>
        </p:txBody>
      </p:sp>
      <p:sp>
        <p:nvSpPr>
          <p:cNvPr id="29" name="Chevron 28"/>
          <p:cNvSpPr/>
          <p:nvPr/>
        </p:nvSpPr>
        <p:spPr>
          <a:xfrm>
            <a:off x="6684264" y="3794760"/>
            <a:ext cx="2121408" cy="914400"/>
          </a:xfrm>
          <a:prstGeom prst="chevron">
            <a:avLst>
              <a:gd name="adj" fmla="val 25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031736" y="388620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300" b="1">
                <a:solidFill>
                  <a:srgbClr val="C8102E"/>
                </a:solidFill>
                <a:latin typeface="Arial"/>
              </a:rPr>
              <a:t>Service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31736" y="4160520"/>
            <a:ext cx="14173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50" b="0">
                <a:solidFill>
                  <a:srgbClr val="262A33"/>
                </a:solidFill>
                <a:latin typeface="Arial"/>
              </a:rPr>
              <a:t>learningContent, query theo lọc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120640"/>
            <a:ext cx="8229600" cy="594360"/>
          </a:xfrm>
          <a:prstGeom prst="roundRect">
            <a:avLst>
              <a:gd name="adj" fmla="val 20000"/>
            </a:avLst>
          </a:prstGeom>
          <a:solidFill>
            <a:srgbClr val="26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Oval 32"/>
          <p:cNvSpPr/>
          <p:nvPr/>
        </p:nvSpPr>
        <p:spPr>
          <a:xfrm>
            <a:off x="594360" y="5280659"/>
            <a:ext cx="274320" cy="274320"/>
          </a:xfrm>
          <a:prstGeom prst="ellipse">
            <a:avLst/>
          </a:prstGeom>
          <a:solidFill>
            <a:srgbClr val="E39B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94360" y="5280659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200" b="1">
                <a:solidFill>
                  <a:srgbClr val="262A33"/>
                </a:solidFill>
                <a:latin typeface="Arial"/>
              </a:rPr>
              <a:t>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5120640"/>
            <a:ext cx="754380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rial"/>
              </a:rPr>
              <a:t>Practice/Tutor và grammar_exercises có migration trong repo: </a:t>
            </a:r>
            <a:r>
              <a:rPr sz="1200" b="1">
                <a:solidFill>
                  <a:srgbClr val="FFD27A"/>
                </a:solidFill>
                <a:latin typeface="Arial"/>
              </a:rPr>
              <a:t>cần xác nhận đã chạy và seed trên Supabase.</a:t>
            </a:r>
          </a:p>
        </p:txBody>
      </p:sp>
    </p:spTree>
    <p:extLst>
      <p:ext uri="{BB962C8B-B14F-4D97-AF65-F5344CB8AC3E}">
        <p14:creationId xmlns:p14="http://schemas.microsoft.com/office/powerpoint/2010/main" val="6447286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37B5C8-2095-4D2D-97FE-E4E8D8937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Title 10">
            <a:extLst>
              <a:ext uri="{FF2B5EF4-FFF2-40B4-BE49-F238E27FC236}">
                <a16:creationId xmlns:a16="http://schemas.microsoft.com/office/drawing/2014/main" id="{F78B3876-6ECC-4098-BDD1-C48CE4B42721}"/>
              </a:ext>
            </a:extLst>
          </p:cNvPr>
          <p:cNvSpPr txBox="1">
            <a:spLocks/>
          </p:cNvSpPr>
          <p:nvPr/>
        </p:nvSpPr>
        <p:spPr>
          <a:xfrm>
            <a:off x="4181094" y="3021991"/>
            <a:ext cx="4197975" cy="814017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vi-VN" sz="4400">
                <a:solidFill>
                  <a:srgbClr val="C8102E"/>
                </a:solidFill>
                <a:latin typeface="Arial" panose="020B0604020202020204" pitchFamily="34" charset="0"/>
              </a:rPr>
              <a:t>CẢM ƠN!</a:t>
            </a:r>
            <a:endParaRPr lang="en-US" sz="4400" dirty="0">
              <a:solidFill>
                <a:srgbClr val="C8102E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0535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241</TotalTime>
  <Words>680</Words>
  <Application>Microsoft Office PowerPoint</Application>
  <PresentationFormat>On-screen Show (4:3)</PresentationFormat>
  <Paragraphs>147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Consolas</vt:lpstr>
      <vt:lpstr>Lato</vt:lpstr>
      <vt:lpstr>Office Theme</vt:lpstr>
      <vt:lpstr>PowerPoint Presentation</vt:lpstr>
      <vt:lpstr>Thành viên nhóm</vt:lpstr>
      <vt:lpstr>1. Kiến trúc tổng quan</vt:lpstr>
      <vt:lpstr>1. Kiến trúc tổng quan</vt:lpstr>
      <vt:lpstr>2. Thiết kế dữ liệu và quan hệ</vt:lpstr>
      <vt:lpstr>2. Thiết kế dữ liệu và quan hệ</vt:lpstr>
      <vt:lpstr>3. Xác thực và bảo mật dữ liệu</vt:lpstr>
      <vt:lpstr>3. Xác thực và bảo mật dữ liệu</vt:lpstr>
      <vt:lpstr>4. Giải pháp đồng bộ tiến độ</vt:lpstr>
      <vt:lpstr>4. Giải pháp đồng bộ tiến độ</vt:lpstr>
      <vt:lpstr>5. Pipeline nội dung và quy mô catalog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Hoang Minh Hai</cp:lastModifiedBy>
  <cp:revision>17</cp:revision>
  <dcterms:created xsi:type="dcterms:W3CDTF">2021-05-28T04:32:29Z</dcterms:created>
  <dcterms:modified xsi:type="dcterms:W3CDTF">2026-10-25T15:42:48Z</dcterms:modified>
</cp:coreProperties>
</file>